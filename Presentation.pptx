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8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F65A0-9F57-484C-B7A7-8680612CDD6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4F6D3-3770-4BD9-9B8D-7E8099FA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57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7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0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95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21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7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3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9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1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89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9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39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5DBF1FB-1472-4822-9653-4FC501F36138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62510BA-18C5-4985-92C4-60D73BC177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06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DD0FC9-C2A0-63B8-64AE-9DAAC19DE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4314828"/>
          </a:xfrm>
        </p:spPr>
        <p:txBody>
          <a:bodyPr>
            <a:normAutofit/>
          </a:bodyPr>
          <a:lstStyle/>
          <a:p>
            <a:pPr algn="ctr">
              <a:defRPr sz="36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 Filter for Robust Target Tracking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Non-Gaussian Indoor Environments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Mustafa Enes Özçelik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Marmara University – Electrical and Electronics Engineering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15DB323-C725-AF29-2458-C6CEC16CB3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EEE7023 Project Presentatıon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3248948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>
            <a:extLst>
              <a:ext uri="{FF2B5EF4-FFF2-40B4-BE49-F238E27FC236}">
                <a16:creationId xmlns:a16="http://schemas.microsoft.com/office/drawing/2014/main" id="{722DC374-FA28-AD2A-3EC8-C23D467359CE}"/>
              </a:ext>
            </a:extLst>
          </p:cNvPr>
          <p:cNvSpPr txBox="1"/>
          <p:nvPr/>
        </p:nvSpPr>
        <p:spPr>
          <a:xfrm>
            <a:off x="1352550" y="742950"/>
            <a:ext cx="10201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03FD50CF-3DE3-4124-59AF-61755406C44C}"/>
              </a:ext>
            </a:extLst>
          </p:cNvPr>
          <p:cNvSpPr txBox="1"/>
          <p:nvPr/>
        </p:nvSpPr>
        <p:spPr>
          <a:xfrm>
            <a:off x="1428750" y="1857375"/>
            <a:ext cx="934402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Motivation &amp; 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Models (Process &amp; Measurement)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Non-Gaussian Challenge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Design: SIR Particle Filter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Demonstration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Results &amp; Error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19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B98A2A70-C00C-AF03-CEC2-BCBE2786CA84}"/>
              </a:ext>
            </a:extLst>
          </p:cNvPr>
          <p:cNvSpPr txBox="1"/>
          <p:nvPr/>
        </p:nvSpPr>
        <p:spPr>
          <a:xfrm>
            <a:off x="1643063" y="814388"/>
            <a:ext cx="8472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Project Motivation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50217EF-5C99-5423-B6A8-4FADF42C496D}"/>
              </a:ext>
            </a:extLst>
          </p:cNvPr>
          <p:cNvSpPr txBox="1"/>
          <p:nvPr/>
        </p:nvSpPr>
        <p:spPr>
          <a:xfrm>
            <a:off x="1404938" y="1962150"/>
            <a:ext cx="9329737" cy="3498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 b="1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Localization Challenges</a:t>
            </a:r>
          </a:p>
          <a:p>
            <a:pPr lvl="1"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Multipath interference, signal shadowing, and Non-Line-of-Sight (NLOS) conditions.</a:t>
            </a: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  <a:defRPr sz="2400" b="1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of Traditional Filters</a:t>
            </a:r>
          </a:p>
          <a:p>
            <a:pPr lvl="1"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 Standard Kalman Filters (KF, EKF, UKF) rely on Gaussian noise assumptions.</a:t>
            </a:r>
          </a:p>
          <a:p>
            <a:pPr lvl="1"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 Heavy-tailed, impulsive outliers cause complete filter divergence.</a:t>
            </a: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  <a:defRPr sz="2400" b="1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 Particle Filtering</a:t>
            </a:r>
          </a:p>
          <a:p>
            <a:pPr lvl="1"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 Sequential Monte Carlo method capable of handling arbitrary (non-Gaussian) probability density functions.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25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504D53BC-A29C-652A-FA95-3D9015A17B38}"/>
              </a:ext>
            </a:extLst>
          </p:cNvPr>
          <p:cNvSpPr txBox="1"/>
          <p:nvPr/>
        </p:nvSpPr>
        <p:spPr>
          <a:xfrm>
            <a:off x="0" y="34290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System Process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2044E086-D694-2EF2-1663-D5F9BE5ECCF3}"/>
                  </a:ext>
                </a:extLst>
              </p:cNvPr>
              <p:cNvSpPr txBox="1"/>
              <p:nvPr/>
            </p:nvSpPr>
            <p:spPr>
              <a:xfrm>
                <a:off x="428625" y="1104900"/>
                <a:ext cx="11449050" cy="5053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  <a:defRPr b="1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Constant Velocity (CV) Kinematic Model</a:t>
                </a:r>
              </a:p>
              <a:p>
                <a:pPr lvl="1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The target moves in a 2D plane with continuous acceleration white noise.</a:t>
                </a:r>
              </a:p>
              <a:p>
                <a:pPr lvl="1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Transition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Transition Matrix (Φ):</a:t>
                </a:r>
              </a:p>
              <a:p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Φ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2044E086-D694-2EF2-1663-D5F9BE5EC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5" y="1104900"/>
                <a:ext cx="11449050" cy="5053948"/>
              </a:xfrm>
              <a:prstGeom prst="rect">
                <a:avLst/>
              </a:prstGeom>
              <a:blipFill>
                <a:blip r:embed="rId2"/>
                <a:stretch>
                  <a:fillRect l="-692" t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359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D8CDC990-5F60-6933-D195-9F791A0FED78}"/>
              </a:ext>
            </a:extLst>
          </p:cNvPr>
          <p:cNvSpPr txBox="1"/>
          <p:nvPr/>
        </p:nvSpPr>
        <p:spPr>
          <a:xfrm>
            <a:off x="1185863" y="571501"/>
            <a:ext cx="911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Measurement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9C71E009-674B-0533-FB7C-D1C07E8BA3AE}"/>
                  </a:ext>
                </a:extLst>
              </p:cNvPr>
              <p:cNvSpPr txBox="1"/>
              <p:nvPr/>
            </p:nvSpPr>
            <p:spPr>
              <a:xfrm>
                <a:off x="1157288" y="1385889"/>
                <a:ext cx="10672762" cy="4268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  <a:defRPr b="1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Range-Only Tracking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system relies on a single stationary beacon at origin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[0, 0]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Non-linear Observation Equation:</a:t>
                </a:r>
              </a:p>
              <a:p>
                <a:pPr lvl="1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+ 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is calculated via Euclidean geometry.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Absolute value prevents unphysical negative ranges.</a:t>
                </a:r>
              </a:p>
              <a:p>
                <a:pPr lvl="1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crucial component is the measurement noise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which is non-Gaussian.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9C71E009-674B-0533-FB7C-D1C07E8BA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288" y="1385889"/>
                <a:ext cx="10672762" cy="4268861"/>
              </a:xfrm>
              <a:prstGeom prst="rect">
                <a:avLst/>
              </a:prstGeom>
              <a:blipFill>
                <a:blip r:embed="rId2"/>
                <a:stretch>
                  <a:fillRect l="-514" t="-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59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3C09D2FC-63C6-93CD-5A8A-39AEAC80B649}"/>
              </a:ext>
            </a:extLst>
          </p:cNvPr>
          <p:cNvSpPr txBox="1"/>
          <p:nvPr/>
        </p:nvSpPr>
        <p:spPr>
          <a:xfrm>
            <a:off x="2457450" y="700088"/>
            <a:ext cx="6772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Non-Gaussian Challenge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C95794C4-7148-AEA7-EF8A-7D050F2DF02C}"/>
                  </a:ext>
                </a:extLst>
              </p:cNvPr>
              <p:cNvSpPr txBox="1"/>
              <p:nvPr/>
            </p:nvSpPr>
            <p:spPr>
              <a:xfrm>
                <a:off x="517605" y="1500188"/>
                <a:ext cx="11329988" cy="4687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  <a:defRPr b="1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Modeling Multipath Outliers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 Measurement noise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generated using a Cauchy Distribution.</a:t>
                </a:r>
              </a:p>
              <a:p>
                <a:pPr marL="342900" indent="-342900">
                  <a:spcBef>
                    <a:spcPts val="1400"/>
                  </a:spcBef>
                  <a:buFont typeface="Arial" panose="020B0604020202020204" pitchFamily="34" charset="0"/>
                  <a:buChar char="•"/>
                  <a:defRPr b="1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Cauchy Probability Density Function (PDF):</a:t>
                </a:r>
              </a:p>
              <a:p>
                <a:pPr algn="ctr">
                  <a:spcBef>
                    <a:spcPts val="1400"/>
                  </a:spcBef>
                  <a:defRPr b="1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l-GR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l-GR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l-GR" sz="2400" b="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𝛾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400"/>
                  </a:spcBef>
                  <a:defRPr b="1"/>
                </a:pP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Target equivalent Signal-to-Noise Ratio (SNR) = 15 dB</a:t>
                </a:r>
              </a:p>
              <a:p>
                <a:pPr>
                  <a:spcBef>
                    <a:spcPts val="1400"/>
                  </a:spcBef>
                  <a:defRPr b="1"/>
                </a:pPr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spcBef>
                    <a:spcPts val="1400"/>
                  </a:spcBef>
                  <a:buFont typeface="Arial" panose="020B0604020202020204" pitchFamily="34" charset="0"/>
                  <a:buChar char="•"/>
                  <a:defRPr b="1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Physical Constraints &amp; Truncation: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 Cauchy distributions have infinite variance mathematically.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 Noise is truncated to ±30 meters to represent realistic indoor room boundaries.</a:t>
                </a:r>
              </a:p>
              <a:p>
                <a:pPr>
                  <a:spcBef>
                    <a:spcPts val="1400"/>
                  </a:spcBef>
                  <a:defRPr b="1"/>
                </a:pPr>
                <a:endParaRPr lang="en-US" dirty="0"/>
              </a:p>
            </p:txBody>
          </p:sp>
        </mc:Choice>
        <mc:Fallback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C95794C4-7148-AEA7-EF8A-7D050F2DF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05" y="1500188"/>
                <a:ext cx="11329988" cy="4687630"/>
              </a:xfrm>
              <a:prstGeom prst="rect">
                <a:avLst/>
              </a:prstGeom>
              <a:blipFill>
                <a:blip r:embed="rId2"/>
                <a:stretch>
                  <a:fillRect l="-484" t="-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4780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ACE78A7C-4BE6-9649-C621-1357B5159622}"/>
              </a:ext>
            </a:extLst>
          </p:cNvPr>
          <p:cNvSpPr txBox="1"/>
          <p:nvPr/>
        </p:nvSpPr>
        <p:spPr>
          <a:xfrm>
            <a:off x="0" y="740779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Filter Design: SIR Particle Filter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722FECA-72BE-8EA2-72FF-4028A2345A1B}"/>
              </a:ext>
            </a:extLst>
          </p:cNvPr>
          <p:cNvSpPr txBox="1"/>
          <p:nvPr/>
        </p:nvSpPr>
        <p:spPr>
          <a:xfrm>
            <a:off x="1296364" y="1713053"/>
            <a:ext cx="10451940" cy="37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Importance Resampling (SIR)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continuous posterior state density using a swarm of N = 2000 discrete weighted samples (particles).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  <a:defRPr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Steps in the Algorithm: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Initialization: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Particles sampled around true state.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Prediction: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Propagated through CV model.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Weight Update: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likelihood.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Resampling: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Eliminating low-weight particles.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948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48CA82DD-8246-AC38-F31B-C797EC11A89E}"/>
              </a:ext>
            </a:extLst>
          </p:cNvPr>
          <p:cNvSpPr txBox="1"/>
          <p:nvPr/>
        </p:nvSpPr>
        <p:spPr>
          <a:xfrm>
            <a:off x="0" y="47456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Details: Weight Update &amp; Resampling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488F4342-9DA8-2DAC-571E-8702E451BC1D}"/>
                  </a:ext>
                </a:extLst>
              </p:cNvPr>
              <p:cNvSpPr txBox="1"/>
              <p:nvPr/>
            </p:nvSpPr>
            <p:spPr>
              <a:xfrm>
                <a:off x="671332" y="1250066"/>
                <a:ext cx="9178724" cy="4914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  <a:defRPr b="1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Cauchy Likelihood Advantage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Instead of standard Gaussian exponent, weights are updated using the Cauchy PDF.</a:t>
                </a:r>
              </a:p>
              <a:p>
                <a:pPr lvl="1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dirty="0"/>
                        <m:t>∝</m:t>
                      </m:r>
                      <m:r>
                        <m:rPr>
                          <m:nor/>
                        </m:rPr>
                        <a:rPr lang="en-US" sz="2000" b="0" i="0" dirty="0" smtClean="0"/>
                        <m:t>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l-GR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𝑒𝑥𝑝𝑒𝑐𝑡𝑒𝑑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r>
                                            <a:rPr lang="el-GR" sz="20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𝛾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 This allows the filter to ignore massive outliers without setting particle weights   completely to zero.</a:t>
                </a:r>
              </a:p>
              <a:p>
                <a:pPr marL="342900" indent="-342900">
                  <a:spcBef>
                    <a:spcPts val="1400"/>
                  </a:spcBef>
                  <a:buFont typeface="Arial" panose="020B0604020202020204" pitchFamily="34" charset="0"/>
                  <a:buChar char="•"/>
                  <a:defRPr b="1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Systematic Resampling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Combats particle degeneracy (where one particle gets 100% of the weight).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Triggered when Effective Sample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𝑒𝑓𝑓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Metin kutusu 2">
                <a:extLst>
                  <a:ext uri="{FF2B5EF4-FFF2-40B4-BE49-F238E27FC236}">
                    <a16:creationId xmlns:a16="http://schemas.microsoft.com/office/drawing/2014/main" id="{488F4342-9DA8-2DAC-571E-8702E451B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32" y="1250066"/>
                <a:ext cx="9178724" cy="4914230"/>
              </a:xfrm>
              <a:prstGeom prst="rect">
                <a:avLst/>
              </a:prstGeom>
              <a:blipFill>
                <a:blip r:embed="rId2"/>
                <a:stretch>
                  <a:fillRect l="-598" t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3917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diyagram, çizgi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B64889B-3E26-F2DF-5AF9-1F5BC5AAB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91" y="1067633"/>
            <a:ext cx="5183659" cy="4041686"/>
          </a:xfrm>
          <a:prstGeom prst="rect">
            <a:avLst/>
          </a:prstGeom>
        </p:spPr>
      </p:pic>
      <p:pic>
        <p:nvPicPr>
          <p:cNvPr id="5" name="Resim 4" descr="metin, diyagram, ekran görüntüsü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213E938-B2CF-DD7A-9D18-02650B0B8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084" y="1076202"/>
            <a:ext cx="5326748" cy="403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0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F38F29F2-9B3E-5789-4BC3-38454D027199}"/>
              </a:ext>
            </a:extLst>
          </p:cNvPr>
          <p:cNvSpPr txBox="1"/>
          <p:nvPr/>
        </p:nvSpPr>
        <p:spPr>
          <a:xfrm>
            <a:off x="0" y="52086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Comparative Results &amp; Metrics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E970879-62C5-0FF7-4011-D76E2AAFB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197" y="1521752"/>
            <a:ext cx="4319201" cy="3455361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887A6F44-190C-76F1-02CE-5CF117DAC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368" y="1490409"/>
            <a:ext cx="4277395" cy="3463555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06287831-762D-EE2B-53A5-B57FEC12FA30}"/>
              </a:ext>
            </a:extLst>
          </p:cNvPr>
          <p:cNvSpPr txBox="1"/>
          <p:nvPr/>
        </p:nvSpPr>
        <p:spPr>
          <a:xfrm>
            <a:off x="1701478" y="5440101"/>
            <a:ext cx="920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Root Mean Square Error  |  NEES: Normalized Estimation Error Squared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49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AF9B432D-42BE-2934-BC08-094E44EC5C06}"/>
              </a:ext>
            </a:extLst>
          </p:cNvPr>
          <p:cNvSpPr txBox="1"/>
          <p:nvPr/>
        </p:nvSpPr>
        <p:spPr>
          <a:xfrm>
            <a:off x="0" y="40511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6CB637D8-8876-CE7A-2E4F-58A19D11B717}"/>
              </a:ext>
            </a:extLst>
          </p:cNvPr>
          <p:cNvSpPr txBox="1"/>
          <p:nvPr/>
        </p:nvSpPr>
        <p:spPr>
          <a:xfrm>
            <a:off x="889260" y="1502357"/>
            <a:ext cx="10869351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b="1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 SIR Particle Filter provides immense robustness in heavy-tailed (Cauchy) indoor noise.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 Successfully bypassed the divergence issues standard linear filters face under non-Gaussian   conditions.</a:t>
            </a:r>
          </a:p>
          <a:p>
            <a:pPr>
              <a:spcBef>
                <a:spcPts val="1400"/>
              </a:spcBef>
              <a:defRPr b="1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  <a:defRPr b="1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 Resolving Angular Ambiguity: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a Trilateration network by adding two additional sensor anchors.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eliminate trajectory oscillations and bring position RMSE down to sub-meter 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523161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Geçmişe bakış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302</TotalTime>
  <Words>544</Words>
  <Application>Microsoft Office PowerPoint</Application>
  <PresentationFormat>Geniş ekran</PresentationFormat>
  <Paragraphs>84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Cambria Math</vt:lpstr>
      <vt:lpstr>Times New Roman</vt:lpstr>
      <vt:lpstr>Geçmişe bakış</vt:lpstr>
      <vt:lpstr>Particle Filter for Robust Target Tracking  in Non-Gaussian Indoor Environments   Mustafa Enes Özçelik  Marmara University – Electrical and Electronics Engineering 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Mustafa Enes.Ozcelik</dc:creator>
  <cp:lastModifiedBy>Mustafa Enes.Ozcelik</cp:lastModifiedBy>
  <cp:revision>5</cp:revision>
  <dcterms:created xsi:type="dcterms:W3CDTF">2026-06-10T12:55:27Z</dcterms:created>
  <dcterms:modified xsi:type="dcterms:W3CDTF">2026-06-10T17:58:12Z</dcterms:modified>
</cp:coreProperties>
</file>